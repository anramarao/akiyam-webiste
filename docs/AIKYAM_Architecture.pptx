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D700"/>
                </a:solidFill>
              </a:defRPr>
            </a:pPr>
            <a:r>
              <a:t>AIKYAM</a:t>
            </a:r>
          </a:p>
          <a:p>
            <a:pPr algn="l">
              <a:defRPr sz="2400">
                <a:solidFill>
                  <a:srgbClr val="FFFFFF"/>
                </a:solidFill>
              </a:defRPr>
            </a:pPr>
            <a:r>
              <a:t>Technical Architecture &amp; Event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999999"/>
                </a:solidFill>
              </a:defRPr>
            </a:pPr>
            <a:r>
              <a:t>April 2026  |  Ramarao  | 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1732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Architecture at a Glance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4028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Authentication System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51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Role-Based Access Control (9 Levels)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63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Event Management Feature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Database Schema &amp; Security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86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Developer Workflow &amp; Demo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97680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Platform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What We Manage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Community Events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Team &amp; Board Info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Photo Gallery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Vendor Directory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Member Authentication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Donations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3840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How We Build It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HTML / CSS / Vanilla JS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No frameworks or build tools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GoDaddy static hosting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Supabase free tier backend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Zero monthly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8229600" cy="731520"/>
          </a:xfrm>
          <a:prstGeom prst="roundRect">
            <a:avLst/>
          </a:prstGeom>
          <a:solidFill>
            <a:srgbClr val="332B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KEY PRINCIPLE:  Zero-Cost Infrastructure — No servers, no monthly bills, no framework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Architecture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8229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USER'S BROWSER</a:t>
            </a:r>
          </a:p>
          <a:p>
            <a:pPr algn="ctr">
              <a:defRPr sz="400" b="0">
                <a:solidFill>
                  <a:srgbClr val="FFFFFF"/>
                </a:solidFill>
              </a:defRPr>
            </a:pP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index.html  |  styles.css  |  script.js  |  auth.js  |  events.js  |  admin-events.js</a:t>
            </a:r>
          </a:p>
          <a:p>
            <a:pPr algn="ctr">
              <a:defRPr sz="400" b="0">
                <a:solidFill>
                  <a:srgbClr val="FFFFFF"/>
                </a:solidFill>
              </a:defRPr>
            </a:pPr>
          </a:p>
          <a:p>
            <a:pPr algn="ctr">
              <a:defRPr sz="1000" b="0">
                <a:solidFill>
                  <a:srgbClr val="999999"/>
                </a:solidFill>
              </a:defRPr>
            </a:pPr>
            <a:r>
              <a:t>Everything runs client-side — no backend server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00"/>
                </a:solidFill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1A365D"/>
          </a:solidFill>
          <a:ln w="1905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GoDaddy  (Static Host)</a:t>
            </a:r>
          </a:p>
          <a:p>
            <a:pPr algn="ctr">
              <a:defRPr sz="400" b="0">
                <a:solidFill>
                  <a:srgbClr val="FFFFFF"/>
                </a:solidFill>
              </a:defRPr>
            </a:pPr>
          </a:p>
          <a:p>
            <a:pPr algn="ctr">
              <a:defRPr sz="1000" b="0">
                <a:solidFill>
                  <a:srgbClr val="CCCCCC"/>
                </a:solidFill>
              </a:defRPr>
            </a:pPr>
            <a:r>
              <a:t>HTML, CSS, JS, Images, JSON data</a:t>
            </a:r>
          </a:p>
          <a:p>
            <a:pPr algn="ctr">
              <a:defRPr sz="1000" b="0">
                <a:solidFill>
                  <a:srgbClr val="999999"/>
                </a:solidFill>
              </a:defRPr>
            </a:pPr>
            <a:r>
              <a:t>No server-side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017520"/>
            <a:ext cx="3840480" cy="1371600"/>
          </a:xfrm>
          <a:prstGeom prst="roundRect">
            <a:avLst/>
          </a:prstGeom>
          <a:solidFill>
            <a:srgbClr val="1A365D"/>
          </a:solidFill>
          <a:ln w="1905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Supabase  (Free Tier)</a:t>
            </a:r>
          </a:p>
          <a:p>
            <a:pPr algn="ctr">
              <a:defRPr sz="400" b="0">
                <a:solidFill>
                  <a:srgbClr val="FFFFFF"/>
                </a:solidFill>
              </a:defRPr>
            </a:pPr>
          </a:p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Auth (GoTrue)  |  PostgreSQL  |  RLS</a:t>
            </a:r>
          </a:p>
          <a:p>
            <a:pPr algn="ctr">
              <a:defRPr sz="1000" b="0">
                <a:solidFill>
                  <a:srgbClr val="999999"/>
                </a:solidFill>
              </a:defRPr>
            </a:pPr>
            <a:r>
              <a:t>Server-side authorization enforcement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5720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Markup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HTML5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Semantic elements, ARIA attributes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CSS3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Custom properties, Grid, Flexbox, BEM naming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Vanilla JavaScript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ES2017+ (async/await), IIFE modules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Fonts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Google Fonts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Montserrat (400, 700, 900)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Supabase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Client-side SDK v2 via CDN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Supabase free tier, Row-Level Security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GoDaddy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Static file hosting (included with domain)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Make + Python3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Image optimization, CSS/JS minification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JavaScript Module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0058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999999"/>
                </a:solidFill>
              </a:defRPr>
            </a:pPr>
            <a:r>
              <a:t>config.js</a:t>
            </a:r>
          </a:p>
          <a:p>
            <a:pPr algn="ctr">
              <a:defRPr sz="800" b="0">
                <a:solidFill>
                  <a:srgbClr val="999999"/>
                </a:solidFill>
              </a:defRPr>
            </a:pPr>
            <a:r>
              <a:t>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auth.js</a:t>
            </a:r>
          </a:p>
          <a:p>
            <a:pPr algn="ctr">
              <a:defRPr sz="800" b="0">
                <a:solidFill>
                  <a:srgbClr val="999999"/>
                </a:solidFill>
              </a:defRPr>
            </a:pPr>
            <a:r>
              <a:t>AIKYAM_Auth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774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events.js</a:t>
            </a:r>
          </a:p>
          <a:p>
            <a:pPr algn="ctr">
              <a:defRPr sz="800" b="0">
                <a:solidFill>
                  <a:srgbClr val="999999"/>
                </a:solidFill>
              </a:defRPr>
            </a:pPr>
            <a:r>
              <a:t>AIKYAM_Events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script.js</a:t>
            </a:r>
          </a:p>
          <a:p>
            <a:pPr algn="ctr">
              <a:defRPr sz="800" b="0">
                <a:solidFill>
                  <a:srgbClr val="999999"/>
                </a:solidFill>
              </a:defRPr>
            </a:pPr>
            <a:r>
              <a:t>Public site rendering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20040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admin-events.js</a:t>
            </a:r>
          </a:p>
          <a:p>
            <a:pPr algn="ctr">
              <a:defRPr sz="800" b="0">
                <a:solidFill>
                  <a:srgbClr val="999999"/>
                </a:solidFill>
              </a:defRPr>
            </a:pPr>
            <a:r>
              <a:t>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D700"/>
                </a:solidFill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D700"/>
                </a:solidFill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803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D700"/>
                </a:solidFill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Load Order (all defer):  supabase-js (CDN)  →  config.js  →  auth.js  →  events.js  →  script.js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Authentication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Sign-Up Flow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User fills signup form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Rate limit check (5/60s)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Supabase creates account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Confirmation email sent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User clicks email link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6. auth.js detects hash fragment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7. Profile auto-created (Member)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8. User can now log in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100" b="1">
                <a:solidFill>
                  <a:srgbClr val="FFD700"/>
                </a:solidFill>
              </a:defRPr>
            </a:pPr>
            <a:r>
              <a:t>Security Features: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Bcrypt password hashing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Rate limiting (5/min)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Email confirmation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38404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Login Flow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Email + Password submitted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Supabase validates credentials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Session token returned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Header UI updates:</a:t>
            </a:r>
          </a:p>
          <a:p>
            <a:pPr algn="l">
              <a:defRPr sz="1000" b="0">
                <a:solidFill>
                  <a:srgbClr val="2DD4BF"/>
                </a:solidFill>
              </a:defRPr>
            </a:pPr>
            <a:r>
              <a:t>   Login btn → Avatar dropdown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Role-gated UI appears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100" b="1">
                <a:solidFill>
                  <a:srgbClr val="FFD700"/>
                </a:solidFill>
              </a:defRPr>
            </a:pPr>
            <a:r>
              <a:t>Route Protection: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No session → redirect to login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Insufficient role → redirect home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•  Valid role → page loads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999999"/>
                </a:solidFill>
              </a:defRPr>
            </a:pPr>
            <a:r>
              <a:t>data-auth-required="ProgramManager"</a:t>
            </a:r>
          </a:p>
          <a:p>
            <a:pPr algn="l">
              <a:defRPr sz="800" b="0">
                <a:solidFill>
                  <a:srgbClr val="999999"/>
                </a:solidFill>
              </a:defRPr>
            </a:pPr>
            <a:r>
              <a:t>hides/shows elements per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Role-Based Access Control — 9-Level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7223760" cy="347472"/>
          </a:xfrm>
          <a:prstGeom prst="roundRect">
            <a:avLst/>
          </a:prstGeom>
          <a:solidFill>
            <a:srgbClr val="FA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8  |  GlobalAdmin  —  Full system access, manage all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62456"/>
            <a:ext cx="6949440" cy="347472"/>
          </a:xfrm>
          <a:prstGeom prst="roundRect">
            <a:avLst/>
          </a:prstGeom>
          <a:solidFill>
            <a:srgbClr val="DE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7  |  OrgAdmin  —  Org-level admin, manage team &amp;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64792"/>
            <a:ext cx="6675120" cy="347472"/>
          </a:xfrm>
          <a:prstGeom prst="roundRect">
            <a:avLst/>
          </a:prstGeom>
          <a:solidFill>
            <a:srgbClr val="C2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6  |  ContentManager  —  Content lifecycle (publish/deactivate)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67128"/>
            <a:ext cx="6400800" cy="347472"/>
          </a:xfrm>
          <a:prstGeom prst="roundRect">
            <a:avLst/>
          </a:prstGeom>
          <a:solidFill>
            <a:srgbClr val="A69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5  |  ProgramManager  —  Event creation and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9464"/>
            <a:ext cx="6126480" cy="347472"/>
          </a:xfrm>
          <a:prstGeom prst="roundRect">
            <a:avLst/>
          </a:prstGeom>
          <a:solidFill>
            <a:srgbClr val="8A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4  |  FinanceStaff  —  Financial access and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852160" cy="347472"/>
          </a:xfrm>
          <a:prstGeom prst="roundRect">
            <a:avLst/>
          </a:prstGeom>
          <a:solidFill>
            <a:srgbClr val="6E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3  |  Volunteer  —  Event coordination, member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74136"/>
            <a:ext cx="5577840" cy="347472"/>
          </a:xfrm>
          <a:prstGeom prst="roundRect">
            <a:avLst/>
          </a:prstGeom>
          <a:solidFill>
            <a:srgbClr val="52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2  |  Donor  —  Donation history, donor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76472"/>
            <a:ext cx="5303520" cy="347472"/>
          </a:xfrm>
          <a:prstGeom prst="roundRect">
            <a:avLst/>
          </a:prstGeom>
          <a:solidFill>
            <a:srgbClr val="364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1  |  Support  —  Support queue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78808"/>
            <a:ext cx="502920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Level 0  |  Member  —  Default role, basic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822960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0">
                <a:solidFill>
                  <a:srgbClr val="FFD700"/>
                </a:solidFill>
              </a:defRPr>
            </a:pPr>
            <a:r>
              <a:t>hasMinRole('ContentManager', 'ProgramManager') → true (6 &gt;= 5)  |  Enforced client-side AND server-side via RLS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Event Management —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999999"/>
                </a:solidFill>
              </a:defRPr>
            </a:pPr>
            <a:r>
              <a:t>DRAFT</a:t>
            </a:r>
          </a:p>
          <a:p>
            <a:pPr algn="ctr">
              <a:defRPr sz="200" b="0">
                <a:solidFill>
                  <a:srgbClr val="FFFFFF"/>
                </a:solidFill>
              </a:defRPr>
            </a:pPr>
          </a:p>
          <a:p>
            <a:pPr algn="ctr">
              <a:defRPr sz="900" b="0">
                <a:solidFill>
                  <a:srgbClr val="CCCCCC"/>
                </a:solidFill>
              </a:defRPr>
            </a:pPr>
            <a:r>
              <a:t>Created by ProgramManager+</a:t>
            </a:r>
            <a:br/>
            <a:r>
              <a:t>Default state on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PUBLISHED</a:t>
            </a:r>
          </a:p>
          <a:p>
            <a:pPr algn="ctr">
              <a:defRPr sz="200" b="0">
                <a:solidFill>
                  <a:srgbClr val="FFFFFF"/>
                </a:solidFill>
              </a:defRPr>
            </a:pPr>
          </a:p>
          <a:p>
            <a:pPr algn="ctr">
              <a:defRPr sz="900" b="0">
                <a:solidFill>
                  <a:srgbClr val="CCCCCC"/>
                </a:solidFill>
              </a:defRPr>
            </a:pPr>
            <a:r>
              <a:t>Visible on public site</a:t>
            </a:r>
            <a:br/>
            <a:r>
              <a:t>Manual or scheduled publish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999999"/>
                </a:solidFill>
              </a:defRPr>
            </a:pPr>
            <a:r>
              <a:t>EXPIRED</a:t>
            </a:r>
          </a:p>
          <a:p>
            <a:pPr algn="ctr">
              <a:defRPr sz="200" b="0">
                <a:solidFill>
                  <a:srgbClr val="FFFFFF"/>
                </a:solidFill>
              </a:defRPr>
            </a:pPr>
          </a:p>
          <a:p>
            <a:pPr algn="ctr">
              <a:defRPr sz="900" b="0">
                <a:solidFill>
                  <a:srgbClr val="CCCCCC"/>
                </a:solidFill>
              </a:defRPr>
            </a:pPr>
            <a:r>
              <a:t>Auto when end_at passes</a:t>
            </a:r>
            <a:br/>
            <a:r>
              <a:t>Shown as past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01752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DEACTIVATED</a:t>
            </a:r>
          </a:p>
          <a:p>
            <a:pPr algn="ctr">
              <a:defRPr sz="200" b="0">
                <a:solidFill>
                  <a:srgbClr val="FFFFFF"/>
                </a:solidFill>
              </a:defRPr>
            </a:pPr>
          </a:p>
          <a:p>
            <a:pPr algn="ctr">
              <a:defRPr sz="900" b="0">
                <a:solidFill>
                  <a:srgbClr val="CCCCCC"/>
                </a:solidFill>
              </a:defRPr>
            </a:pPr>
            <a:r>
              <a:t>Manually hidden</a:t>
            </a:r>
            <a:br/>
            <a:r>
              <a:t>Can be re-published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D700"/>
                </a:solidFill>
              </a:defRPr>
            </a:pPr>
            <a:r>
              <a:t>▶ 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37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D700"/>
                </a:solidFill>
              </a:defRPr>
            </a:pPr>
            <a:r>
              <a:t>▶ Auto-expire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14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D700"/>
                </a:solidFill>
              </a:defRPr>
            </a:pPr>
            <a:r>
              <a:t>▼ Deactivate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822960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Auto-Lifecycle:  auto_expire_events() + auto_publish_events() run every 15 min via pg_cron + on every page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Event Management — Permissions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18288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View All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Create/Edit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Publish/Deactivate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GlobalAdmin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OrgAdmin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ContentManager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ProgramManager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Own only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Below PM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No access to admin page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566160"/>
            <a:ext cx="82296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Data Fallback Strategy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Primary: Supabase events table (live data, real-time lifecycle)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Fallback: Static JSON files (data/upcomingEvents.json + completedEvents.json)</a:t>
            </a:r>
          </a:p>
          <a:p>
            <a:pPr algn="l">
              <a:defRPr sz="1000" b="0">
                <a:solidFill>
                  <a:srgbClr val="999999"/>
                </a:solidFill>
              </a:defRPr>
            </a:pPr>
            <a:r>
              <a:t>The site never shows a blank page — same rendering code works with either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Database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743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profiles</a:t>
            </a:r>
          </a:p>
          <a:p>
            <a:pPr algn="l">
              <a:defRPr sz="2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id (UUID, PK, FK → auth.users)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email (TEXT)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full_name (TEXT)</a:t>
            </a:r>
          </a:p>
          <a:p>
            <a:pPr algn="l">
              <a:defRPr sz="800" b="0">
                <a:solidFill>
                  <a:srgbClr val="FFD700"/>
                </a:solidFill>
              </a:defRPr>
            </a:pPr>
            <a:r>
              <a:t>role (app_role ENUM)</a:t>
            </a:r>
          </a:p>
          <a:p>
            <a:pPr algn="l">
              <a:defRPr sz="800" b="0">
                <a:solidFill>
                  <a:srgbClr val="999999"/>
                </a:solidFill>
              </a:defRPr>
            </a:pPr>
            <a:r>
              <a:t>created_at, updated_at</a:t>
            </a:r>
          </a:p>
          <a:p>
            <a:pPr algn="l">
              <a:defRPr sz="200" b="0">
                <a:solidFill>
                  <a:srgbClr val="FFFFFF"/>
                </a:solidFill>
              </a:defRPr>
            </a:pPr>
          </a:p>
          <a:p>
            <a:pPr algn="l">
              <a:defRPr sz="700" b="0">
                <a:solidFill>
                  <a:srgbClr val="999999"/>
                </a:solidFill>
              </a:defRPr>
            </a:pPr>
            <a:r>
              <a:t>Trigger: auto-create on signup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05840"/>
            <a:ext cx="53035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4ADE80"/>
                </a:solidFill>
              </a:defRPr>
            </a:pPr>
            <a:r>
              <a:t>events</a:t>
            </a:r>
          </a:p>
          <a:p>
            <a:pPr algn="l">
              <a:defRPr sz="2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id, title, description, location, price, img, tbd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start_at, end_at (TIMESTAMPTZ)</a:t>
            </a:r>
          </a:p>
          <a:p>
            <a:pPr algn="l">
              <a:defRPr sz="800" b="0">
                <a:solidFill>
                  <a:srgbClr val="FFD700"/>
                </a:solidFill>
              </a:defRPr>
            </a:pPr>
            <a:r>
              <a:t>status (event_status: draft|published|deactivated|expired)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publish_at, expired_at, summary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created_by, updated_by (FK → profiles)</a:t>
            </a:r>
          </a:p>
          <a:p>
            <a:pPr algn="l">
              <a:defRPr sz="200" b="0">
                <a:solidFill>
                  <a:srgbClr val="FFFFFF"/>
                </a:solidFill>
              </a:defRPr>
            </a:pPr>
          </a:p>
          <a:p>
            <a:pPr algn="l">
              <a:defRPr sz="700" b="0">
                <a:solidFill>
                  <a:srgbClr val="999999"/>
                </a:solidFill>
              </a:defRPr>
            </a:pPr>
            <a:r>
              <a:t>Triggers: auto-update updated_at  |  Indexes: status+start_at, publish_at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Row-Level Security (RLS) — Server-Side Authorization</a:t>
            </a:r>
          </a:p>
          <a:p>
            <a:pPr algn="l">
              <a:defRPr sz="3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Profiles: Users read own | Admins read all | Staff read all | Users update own name | GlobalAdmin updates any role</a:t>
            </a:r>
          </a:p>
          <a:p>
            <a:pPr algn="l">
              <a:defRPr sz="2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Events:   Public reads published+expired | Managers read all | Managers create | ContentManagers update any</a:t>
            </a:r>
          </a:p>
          <a:p>
            <a:pPr algn="l">
              <a:defRPr sz="800" b="0">
                <a:solidFill>
                  <a:srgbClr val="CCCCCC"/>
                </a:solidFill>
              </a:defRPr>
            </a:pPr>
            <a:r>
              <a:t>         ProgramManagers update own | Admins delete</a:t>
            </a:r>
          </a:p>
          <a:p>
            <a:pPr algn="l">
              <a:defRPr sz="300" b="0">
                <a:solidFill>
                  <a:srgbClr val="FFFFFF"/>
                </a:solidFill>
              </a:defRPr>
            </a:pPr>
          </a:p>
          <a:p>
            <a:pPr algn="l">
              <a:defRPr sz="800" b="0">
                <a:solidFill>
                  <a:srgbClr val="999999"/>
                </a:solidFill>
              </a:defRPr>
            </a:pPr>
            <a:r>
              <a:t>8 helper functions: user_has_role, user_is_admin, user_is_staff, user_has_min_role, auto_expire, auto_publish,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Security Architecture — Defense in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8229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F87171"/>
                </a:solidFill>
              </a:defRPr>
            </a:pPr>
            <a:r>
              <a:t>Layer 1: Content Security Policy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Only approved scripts/styles/connections allowed — prevents XSS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9072"/>
            <a:ext cx="8229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4ADE80"/>
                </a:solidFill>
              </a:defRPr>
            </a:pPr>
            <a:r>
              <a:t>Layer 2: Row-Level Security (RLS)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Database enforces access on EVERY query — cannot be bypassed from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32304"/>
            <a:ext cx="8229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2DD4BF"/>
                </a:solidFill>
              </a:defRPr>
            </a:pPr>
            <a:r>
              <a:t>Layer 3: Client-Side Auth Guards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requireAuth() blocks pages, applyAuthVisibility() hides restricted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45536"/>
            <a:ext cx="8229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FACC15"/>
                </a:solidFill>
              </a:defRPr>
            </a:pPr>
            <a:r>
              <a:t>Layer 4: Rate Limiting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5 auth attempts per action per 60 seconds — prevents brute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58768"/>
            <a:ext cx="8229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1">
                <a:solidFill>
                  <a:srgbClr val="999999"/>
                </a:solidFill>
              </a:defRPr>
            </a:pPr>
            <a:r>
              <a:t>Layer 5: Credential Isolation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config.js is .gitignored — never committed to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8229600" cy="365760"/>
          </a:xfrm>
          <a:prstGeom prst="roundRect">
            <a:avLst/>
          </a:prstGeom>
          <a:solidFill>
            <a:srgbClr val="332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D700"/>
                </a:solidFill>
              </a:defRPr>
            </a:pPr>
            <a:r>
              <a:t>Client-side checks = UX  |  Server-side RLS = Real security  |  DevTools cannot bypass database policies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Developer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Getting Started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1. git clone &lt;repo&gt;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2. cp config.example.js config.js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Edit config.js with Supabase keys</a:t>
            </a:r>
          </a:p>
          <a:p>
            <a:pPr algn="l">
              <a:defRPr sz="1000" b="0">
                <a:solidFill>
                  <a:srgbClr val="2DD4BF"/>
                </a:solidFill>
              </a:defRPr>
            </a:pPr>
            <a:r>
              <a:t>4. make serve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Open http://localhost:8000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38404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Build Commands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make serve       →  Dev server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make optimize    →  WebP images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make minify      →  Minify CSS/JS</a:t>
            </a:r>
          </a:p>
          <a:p>
            <a:pPr algn="l">
              <a:defRPr sz="1000" b="0">
                <a:solidFill>
                  <a:srgbClr val="2DD4BF"/>
                </a:solidFill>
              </a:defRPr>
            </a:pPr>
            <a:r>
              <a:t>make build       →  Full prod build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make clean       →  Remove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Where to Look</a:t>
            </a:r>
          </a:p>
          <a:p>
            <a:pPr algn="l">
              <a:defRPr sz="300" b="0">
                <a:solidFill>
                  <a:srgbClr val="FFFFFF"/>
                </a:solidFill>
              </a:defRPr>
            </a:pP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Page layout → *.html  |  Styles → styles.css  |  Site behavior → script.js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Auth logic → auth.js  |  Event CRUD → events.js  |  Admin UI → admin-events.js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Nav/Footer → common/  |  Team/Vendor data → data/*.json  |  DB schema → supabase-schema.sql</a:t>
            </a:r>
          </a:p>
          <a:p>
            <a:pPr algn="l">
              <a:defRPr sz="900" b="0">
                <a:solidFill>
                  <a:srgbClr val="CCCCCC"/>
                </a:solidFill>
              </a:defRPr>
            </a:pPr>
            <a:r>
              <a:t>Supabase keys → config.js (never commit!)  |  Images → assets/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Test Accounts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rjramarao@gmail.com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GlobalAdmin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orgadmin@aikyamusa.org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OrgAdmin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contentmanager@aikyamusa.org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ContentManager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programmanager@aikyamusa.org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ProgramManager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financestaff@aikyamusa.org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FinanceStaff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volunteer@aikyamusa.org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Volunteer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donor@aikyamusa.org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Donor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support@aikyamusa.org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member@aikyamusa.org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Menifee@92585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89120"/>
            <a:ext cx="822960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Login with different accounts to see how the UI adapts to each role!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8404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Immediate Roadmap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Event Registration / RSVP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Gallery admin page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Vendor admin page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Member directory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Email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38404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Future Possibilities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Payment integration (Stripe)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PWA offline support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Analytics dashboard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Multi-language (i18n)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 Supabase Edge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82296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Supabase Free Tier Limits (plenty of headroom)</a:t>
            </a:r>
          </a:p>
          <a:p>
            <a:pPr algn="ctr">
              <a:defRPr sz="900" b="0">
                <a:solidFill>
                  <a:srgbClr val="CCCCCC"/>
                </a:solidFill>
              </a:defRPr>
            </a:pPr>
            <a:r>
              <a:t>50K auth users  |  500MB database  |  1GB storage  |  Unlimited API requests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685800"/>
          </a:xfrm>
          <a:prstGeom prst="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078992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005840"/>
            <a:ext cx="75895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ZERO COST</a:t>
            </a:r>
          </a:p>
          <a:p>
            <a:pPr algn="l">
              <a:defRPr sz="1000" b="0">
                <a:solidFill>
                  <a:srgbClr val="CCCCCC"/>
                </a:solidFill>
              </a:defRPr>
            </a:pPr>
            <a:r>
              <a:t>No servers, no monthly bills — static hosting + Supabase free tier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92224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19072"/>
            <a:ext cx="75895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SECURE</a:t>
            </a:r>
          </a:p>
          <a:p>
            <a:pPr algn="l">
              <a:defRPr sz="1000" b="0">
                <a:solidFill>
                  <a:srgbClr val="CCCCCC"/>
                </a:solidFill>
              </a:defRPr>
            </a:pPr>
            <a:r>
              <a:t>9-role RBAC with database-level enforcement via Row-Level Security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05456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432304"/>
            <a:ext cx="75895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RESILIENT</a:t>
            </a:r>
          </a:p>
          <a:p>
            <a:pPr algn="l">
              <a:defRPr sz="1000" b="0">
                <a:solidFill>
                  <a:srgbClr val="CCCCCC"/>
                </a:solidFill>
              </a:defRPr>
            </a:pPr>
            <a:r>
              <a:t>JSON fallback ensures the site never shows a blank page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18688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45536"/>
            <a:ext cx="75895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SIMPLE</a:t>
            </a:r>
          </a:p>
          <a:p>
            <a:pPr algn="l">
              <a:defRPr sz="1000" b="0">
                <a:solidFill>
                  <a:srgbClr val="CCCCCC"/>
                </a:solidFill>
              </a:defRPr>
            </a:pPr>
            <a:r>
              <a:t>No frameworks, no build tools required — just HTML/CSS/JS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58768"/>
            <a:ext cx="758952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EXTENSIBLE</a:t>
            </a:r>
          </a:p>
          <a:p>
            <a:pPr algn="l">
              <a:defRPr sz="1000" b="0">
                <a:solidFill>
                  <a:srgbClr val="CCCCCC"/>
                </a:solidFill>
              </a:defRPr>
            </a:pPr>
            <a:r>
              <a:t>New features = new JS module + DB table + RLS policies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AIKYAM  |  Community Connecting 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